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Comic Neue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micNeue-bold.fntdata"/><Relationship Id="rId30" Type="http://schemas.openxmlformats.org/officeDocument/2006/relationships/font" Target="fonts/ComicNeue-regular.fntdata"/><Relationship Id="rId11" Type="http://schemas.openxmlformats.org/officeDocument/2006/relationships/slide" Target="slides/slide6.xml"/><Relationship Id="rId33" Type="http://schemas.openxmlformats.org/officeDocument/2006/relationships/font" Target="fonts/ComicNeue-boldItalic.fntdata"/><Relationship Id="rId10" Type="http://schemas.openxmlformats.org/officeDocument/2006/relationships/slide" Target="slides/slide5.xml"/><Relationship Id="rId32" Type="http://schemas.openxmlformats.org/officeDocument/2006/relationships/font" Target="fonts/Comic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8.png"/><Relationship Id="rId6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6.jpg"/><Relationship Id="rId6" Type="http://schemas.openxmlformats.org/officeDocument/2006/relationships/image" Target="../media/image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Relationship Id="rId7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3348037"/>
            <a:ext cx="116014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Greetings in English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4052887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用英语问候第一课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424362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Yòng yīngyǔ wènhòu dì yī kè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881562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[20</a:t>
            </a:r>
            <a:r>
              <a:rPr lang="en-US" sz="2100">
                <a:latin typeface="Comic Neue"/>
                <a:ea typeface="Comic Neue"/>
                <a:cs typeface="Comic Neue"/>
                <a:sym typeface="Comic Neue"/>
              </a:rPr>
              <a:t>26-2027]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3559" y="1023937"/>
            <a:ext cx="142488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6" y="236112"/>
            <a:ext cx="1047750" cy="105177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295275" y="3433762"/>
            <a:ext cx="1160145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INTRODUCTION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95275" y="4414837"/>
            <a:ext cx="1160145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介绍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262562"/>
            <a:ext cx="11049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jièshào</a:t>
            </a:r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3810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INTRODUCTION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1510000"/>
            <a:ext cx="32385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名字 (Míngzì)：Ronnie</a:t>
            </a:r>
            <a:r>
              <a:rPr b="1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1950">
                <a:latin typeface="Comic Neue"/>
                <a:ea typeface="Comic Neue"/>
                <a:cs typeface="Comic Neue"/>
                <a:sym typeface="Comic Neue"/>
              </a:rPr>
              <a:t>年级</a:t>
            </a:r>
            <a:r>
              <a:rPr b="0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(nián)：10th </a:t>
            </a:r>
            <a:br>
              <a:rPr b="0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</a:br>
            <a:r>
              <a:rPr lang="en-US" sz="195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 愛好 (àihào)：Tennis, piano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946200"/>
            <a:ext cx="43515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名字 (Míngzì): Justin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1950">
                <a:latin typeface="Comic Neue"/>
                <a:ea typeface="Comic Neue"/>
                <a:cs typeface="Comic Neue"/>
                <a:sym typeface="Comic Neue"/>
              </a:rPr>
              <a:t>年级</a:t>
            </a:r>
            <a:r>
              <a:rPr b="0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(nián)：10th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愛好 (àihào)：Viola, Ba</a:t>
            </a:r>
            <a:r>
              <a:rPr lang="en-US" sz="1950">
                <a:latin typeface="Comic Neue"/>
                <a:ea typeface="Comic Neue"/>
                <a:cs typeface="Comic Neue"/>
                <a:sym typeface="Comic Neue"/>
              </a:rPr>
              <a:t>dminton, Debate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4382400"/>
            <a:ext cx="50583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名字 (Míngzì)</a:t>
            </a:r>
            <a:r>
              <a:rPr b="1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：William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</a:t>
            </a:r>
            <a:r>
              <a:rPr lang="en-US" sz="1950">
                <a:latin typeface="Comic Neue"/>
                <a:ea typeface="Comic Neue"/>
                <a:cs typeface="Comic Neue"/>
                <a:sym typeface="Comic Neue"/>
              </a:rPr>
              <a:t>年级</a:t>
            </a:r>
            <a:r>
              <a:rPr b="0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(nián)</a:t>
            </a:r>
            <a:r>
              <a:rPr b="0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：</a:t>
            </a:r>
            <a:r>
              <a:rPr lang="en-US" sz="1950">
                <a:latin typeface="Comic Neue"/>
                <a:ea typeface="Comic Neue"/>
                <a:cs typeface="Comic Neue"/>
                <a:sym typeface="Comic Neue"/>
              </a:rPr>
              <a:t>10th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愛好 (àihào)：Watching movies, science fiction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591425" y="2877740"/>
            <a:ext cx="402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591425" y="2620300"/>
            <a:ext cx="4581600" cy="14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名字 (Míngzì)：Tendy </a:t>
            </a:r>
            <a:endParaRPr b="1" sz="1950">
              <a:solidFill>
                <a:schemeClr val="dk1"/>
              </a:solidFill>
              <a:latin typeface="Comic Neue"/>
              <a:ea typeface="Comic Neue"/>
              <a:cs typeface="Comic Neue"/>
              <a:sym typeface="Comic Neue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 年级 (nián)：11th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 愛好 (àihào)：guitar, singing, anime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295275" y="871537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What is your name?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220100" y="1493175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您叫什么名字？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1976437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Nín jiào shénme míngzì?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2509837"/>
            <a:ext cx="11049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mic Neue"/>
                <a:ea typeface="Comic Neue"/>
                <a:cs typeface="Comic Neue"/>
                <a:sym typeface="Comic Neue"/>
              </a:rPr>
              <a:t>Wǒ de míngzì shì...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8600" y="3224200"/>
            <a:ext cx="37348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220100" y="2219325"/>
            <a:ext cx="11601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444444"/>
                </a:solidFill>
                <a:latin typeface="Comic Neue"/>
                <a:ea typeface="Comic Neue"/>
                <a:cs typeface="Comic Neue"/>
                <a:sym typeface="Comic Neue"/>
              </a:rPr>
              <a:t>My name is… / 我的名字是...</a:t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75" y="2390775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mic Neue"/>
                <a:ea typeface="Comic Neue"/>
                <a:cs typeface="Comic Neue"/>
                <a:sym typeface="Comic Neue"/>
              </a:rPr>
              <a:t>Měi gèrén dōu shìzhe shuō zhè jù huà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295275" y="1400175"/>
            <a:ext cx="1160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My name: 我的名字 (Wǒ de míngzì)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295275" y="2043875"/>
            <a:ext cx="1160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44444"/>
                </a:solidFill>
                <a:latin typeface="Comic Neue"/>
                <a:ea typeface="Comic Neue"/>
                <a:cs typeface="Comic Neue"/>
                <a:sym typeface="Comic Neue"/>
              </a:rPr>
              <a:t>Everyone say this: 每个人都试着说这句话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62325"/>
            <a:ext cx="110490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295275" y="452437"/>
            <a:ext cx="116014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Hello: 你好 / 您好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12334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Nǐ hǎo / Nín hǎo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2014537"/>
            <a:ext cx="110490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例如 (lìrú): Hello, everyone! 大家好 (Dàjiā hǎo)。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6450" y="2690800"/>
            <a:ext cx="91791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295275" y="671512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Good Morning: 早上好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13954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zǎoshang hǎo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1890712"/>
            <a:ext cx="110490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Good morning, everyone! 大家早上好 (Dàjiā zǎoshang hǎo)!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0200" y="2953000"/>
            <a:ext cx="511842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295275" y="671512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Good Afternoon: 下午好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13954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xiàwǔ hǎo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1890712"/>
            <a:ext cx="110490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Good afternoon, everyone! 大家下午好 (Dàjiā xiàwǔ hǎo)!</a:t>
            </a:r>
            <a:endParaRPr/>
          </a:p>
        </p:txBody>
      </p:sp>
      <p:pic>
        <p:nvPicPr>
          <p:cNvPr descr="image.png" id="178" name="Google Shape;1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0450" y="2642175"/>
            <a:ext cx="6351093" cy="33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295275" y="509587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Good Evening: 晚上好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12334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wǎnshàng hǎo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1728787"/>
            <a:ext cx="1104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Good evening, ladies and gentlemen!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女士们先生们，晚上好 (Nǚshìmen xiānshēngmen, wǎnshàng hǎo)!</a:t>
            </a:r>
            <a:endParaRPr/>
          </a:p>
        </p:txBody>
      </p:sp>
      <p:pic>
        <p:nvPicPr>
          <p:cNvPr descr="image.png" id="190" name="Google Shape;19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7363" y="2633650"/>
            <a:ext cx="65772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295275" y="671512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Nice to meet you: 高兴见到你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1479388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gāoxìng jiàn dào nǐ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571500" y="1974688"/>
            <a:ext cx="1104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It's really nice to meet you! 很高兴见到你 (Hěn gāoxìng jiàn dào nǐ)!</a:t>
            </a:r>
            <a:endParaRPr/>
          </a:p>
        </p:txBody>
      </p:sp>
      <p:pic>
        <p:nvPicPr>
          <p:cNvPr descr="image.png" id="202" name="Google Shape;2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1825" y="2561950"/>
            <a:ext cx="5088349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571500" y="1549367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nǐ zěnmeyàng?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571500" y="2044667"/>
            <a:ext cx="1104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How are you feeling today? 你今天感觉怎么样 (Nǐ jīntiān gǎnjué zěnmeyàng)?</a:t>
            </a:r>
            <a:endParaRPr/>
          </a:p>
        </p:txBody>
      </p:sp>
      <p:pic>
        <p:nvPicPr>
          <p:cNvPr descr="image.png" id="212" name="Google Shape;21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295275" y="671512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How are you?: 你怎么样?</a:t>
            </a:r>
            <a:endParaRPr/>
          </a:p>
        </p:txBody>
      </p:sp>
      <p:pic>
        <p:nvPicPr>
          <p:cNvPr descr="image.png" id="214" name="Google Shape;21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4775" y="2728900"/>
            <a:ext cx="4742451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295275" y="257175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Response: 回复 (huífù)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571500" y="1171575"/>
            <a:ext cx="11049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I am ___ (我是 - wǒ shì)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 选择以下单词之一 (xuǎnzé yǐxià dāncí zhī yī)</a:t>
            </a:r>
            <a:endParaRPr/>
          </a:p>
        </p:txBody>
      </p:sp>
      <p:pic>
        <p:nvPicPr>
          <p:cNvPr descr="image.png" id="225" name="Google Shape;22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9575" y="2605325"/>
            <a:ext cx="4892851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/>
          <p:nvPr/>
        </p:nvSpPr>
        <p:spPr>
          <a:xfrm>
            <a:off x="295275" y="671512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Long time no see: 好久不见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571500" y="1661334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hǎojiǔ bùjiàn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571500" y="2156634"/>
            <a:ext cx="1104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Long time no see, how are you? 好久不见，你好吗 (Hǎojiǔ bùjiàn, nǐ hǎo ma)?</a:t>
            </a:r>
            <a:endParaRPr/>
          </a:p>
        </p:txBody>
      </p:sp>
      <p:pic>
        <p:nvPicPr>
          <p:cNvPr descr="image.png" id="237" name="Google Shape;23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1425" y="2728900"/>
            <a:ext cx="5389151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6"/>
          <p:cNvSpPr txBox="1"/>
          <p:nvPr/>
        </p:nvSpPr>
        <p:spPr>
          <a:xfrm>
            <a:off x="295275" y="671512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See you: 再见</a:t>
            </a:r>
            <a:endParaRPr/>
          </a:p>
        </p:txBody>
      </p:sp>
      <p:sp>
        <p:nvSpPr>
          <p:cNvPr id="247" name="Google Shape;247;p26"/>
          <p:cNvSpPr txBox="1"/>
          <p:nvPr/>
        </p:nvSpPr>
        <p:spPr>
          <a:xfrm>
            <a:off x="571500" y="13954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zàijiàn</a:t>
            </a:r>
            <a:endParaRPr/>
          </a:p>
        </p:txBody>
      </p:sp>
      <p:sp>
        <p:nvSpPr>
          <p:cNvPr id="248" name="Google Shape;248;p26"/>
          <p:cNvSpPr txBox="1"/>
          <p:nvPr/>
        </p:nvSpPr>
        <p:spPr>
          <a:xfrm>
            <a:off x="687075" y="1877862"/>
            <a:ext cx="1104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See you soon! 很快见到你 (hěn kuài jiàn dào nǐ)!</a:t>
            </a:r>
            <a:endParaRPr/>
          </a:p>
        </p:txBody>
      </p:sp>
      <p:pic>
        <p:nvPicPr>
          <p:cNvPr descr="image.png" id="249" name="Google Shape;24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5563" y="2561950"/>
            <a:ext cx="41408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6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7"/>
          <p:cNvSpPr txBox="1"/>
          <p:nvPr/>
        </p:nvSpPr>
        <p:spPr>
          <a:xfrm>
            <a:off x="295275" y="671512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What is new?: 有什么新的吗?</a:t>
            </a:r>
            <a:endParaRPr/>
          </a:p>
        </p:txBody>
      </p:sp>
      <p:sp>
        <p:nvSpPr>
          <p:cNvPr id="259" name="Google Shape;259;p27"/>
          <p:cNvSpPr txBox="1"/>
          <p:nvPr/>
        </p:nvSpPr>
        <p:spPr>
          <a:xfrm>
            <a:off x="571500" y="1661334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yǒu shéme xīn de ma?</a:t>
            </a:r>
            <a:endParaRPr/>
          </a:p>
        </p:txBody>
      </p:sp>
      <p:sp>
        <p:nvSpPr>
          <p:cNvPr id="260" name="Google Shape;260;p27"/>
          <p:cNvSpPr txBox="1"/>
          <p:nvPr/>
        </p:nvSpPr>
        <p:spPr>
          <a:xfrm>
            <a:off x="571500" y="2156634"/>
            <a:ext cx="1104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What is new with you guys? 有什么新的吗 (yǒu shéme xīn de ma)?</a:t>
            </a:r>
            <a:endParaRPr/>
          </a:p>
        </p:txBody>
      </p:sp>
      <p:pic>
        <p:nvPicPr>
          <p:cNvPr descr="image.png" id="261" name="Google Shape;26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3438" y="2471725"/>
            <a:ext cx="576512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8"/>
          <p:cNvSpPr txBox="1"/>
          <p:nvPr/>
        </p:nvSpPr>
        <p:spPr>
          <a:xfrm>
            <a:off x="295275" y="671512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Tomorrow: 明天</a:t>
            </a:r>
            <a:endParaRPr/>
          </a:p>
        </p:txBody>
      </p:sp>
      <p:sp>
        <p:nvSpPr>
          <p:cNvPr id="271" name="Google Shape;271;p28"/>
          <p:cNvSpPr txBox="1"/>
          <p:nvPr/>
        </p:nvSpPr>
        <p:spPr>
          <a:xfrm>
            <a:off x="571500" y="13954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míngtiān</a:t>
            </a:r>
            <a:endParaRPr/>
          </a:p>
        </p:txBody>
      </p:sp>
      <p:sp>
        <p:nvSpPr>
          <p:cNvPr id="272" name="Google Shape;272;p28"/>
          <p:cNvSpPr txBox="1"/>
          <p:nvPr/>
        </p:nvSpPr>
        <p:spPr>
          <a:xfrm>
            <a:off x="571500" y="1890712"/>
            <a:ext cx="110490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See you Tomorrow! 明天见 (Míngtiān jiàn)!</a:t>
            </a:r>
            <a:endParaRPr/>
          </a:p>
        </p:txBody>
      </p:sp>
      <p:pic>
        <p:nvPicPr>
          <p:cNvPr descr="image.png" id="273" name="Google Shape;27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1588" y="2561975"/>
            <a:ext cx="5268824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8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9"/>
          <p:cNvSpPr txBox="1"/>
          <p:nvPr/>
        </p:nvSpPr>
        <p:spPr>
          <a:xfrm>
            <a:off x="295275" y="671512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Bye: 再见</a:t>
            </a:r>
            <a:endParaRPr/>
          </a:p>
        </p:txBody>
      </p:sp>
      <p:sp>
        <p:nvSpPr>
          <p:cNvPr id="283" name="Google Shape;283;p29"/>
          <p:cNvSpPr txBox="1"/>
          <p:nvPr/>
        </p:nvSpPr>
        <p:spPr>
          <a:xfrm>
            <a:off x="571500" y="13954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zàijiàn</a:t>
            </a:r>
            <a:endParaRPr/>
          </a:p>
        </p:txBody>
      </p:sp>
      <p:sp>
        <p:nvSpPr>
          <p:cNvPr id="284" name="Google Shape;284;p29"/>
          <p:cNvSpPr txBox="1"/>
          <p:nvPr/>
        </p:nvSpPr>
        <p:spPr>
          <a:xfrm>
            <a:off x="571500" y="1890712"/>
            <a:ext cx="110490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Bye then! 那再见 (nà zàijiàn)</a:t>
            </a:r>
            <a:endParaRPr/>
          </a:p>
        </p:txBody>
      </p:sp>
      <p:pic>
        <p:nvPicPr>
          <p:cNvPr descr="image.png" id="285" name="Google Shape;28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4150" y="2471725"/>
            <a:ext cx="52237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9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-1504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0"/>
          <p:cNvSpPr txBox="1"/>
          <p:nvPr/>
        </p:nvSpPr>
        <p:spPr>
          <a:xfrm>
            <a:off x="466225" y="3852862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omic Neue"/>
                <a:ea typeface="Comic Neue"/>
                <a:cs typeface="Comic Neue"/>
                <a:sym typeface="Comic Neue"/>
              </a:rPr>
              <a:t>fānyì chéng yīngwén</a:t>
            </a:r>
            <a:endParaRPr/>
          </a:p>
        </p:txBody>
      </p:sp>
      <p:sp>
        <p:nvSpPr>
          <p:cNvPr id="294" name="Google Shape;294;p30"/>
          <p:cNvSpPr txBox="1"/>
          <p:nvPr/>
        </p:nvSpPr>
        <p:spPr>
          <a:xfrm>
            <a:off x="84625" y="2003537"/>
            <a:ext cx="11601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TRANSLATE TO ENGLISH</a:t>
            </a:r>
            <a:endParaRPr/>
          </a:p>
        </p:txBody>
      </p:sp>
      <p:sp>
        <p:nvSpPr>
          <p:cNvPr id="295" name="Google Shape;295;p30"/>
          <p:cNvSpPr txBox="1"/>
          <p:nvPr/>
        </p:nvSpPr>
        <p:spPr>
          <a:xfrm>
            <a:off x="295275" y="3081337"/>
            <a:ext cx="116016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翻译成英文</a:t>
            </a:r>
            <a:endParaRPr/>
          </a:p>
        </p:txBody>
      </p:sp>
      <p:sp>
        <p:nvSpPr>
          <p:cNvPr id="296" name="Google Shape;296;p30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image.png" id="297" name="Google Shape;29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 txBox="1"/>
          <p:nvPr/>
        </p:nvSpPr>
        <p:spPr>
          <a:xfrm>
            <a:off x="295275" y="2176462"/>
            <a:ext cx="1160145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READING</a:t>
            </a:r>
            <a:endParaRPr/>
          </a:p>
        </p:txBody>
      </p:sp>
      <p:sp>
        <p:nvSpPr>
          <p:cNvPr id="305" name="Google Shape;305;p31"/>
          <p:cNvSpPr txBox="1"/>
          <p:nvPr/>
        </p:nvSpPr>
        <p:spPr>
          <a:xfrm>
            <a:off x="295275" y="3271837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读 (dú)</a:t>
            </a:r>
            <a:endParaRPr/>
          </a:p>
        </p:txBody>
      </p:sp>
      <p:sp>
        <p:nvSpPr>
          <p:cNvPr id="306" name="Google Shape;306;p31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image.png" id="307" name="Google Shape;30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2"/>
          <p:cNvSpPr txBox="1"/>
          <p:nvPr/>
        </p:nvSpPr>
        <p:spPr>
          <a:xfrm>
            <a:off x="752475" y="1652587"/>
            <a:ext cx="108680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Person 1: Good evening! 晚上好 (wǎnshàng hǎo)!</a:t>
            </a:r>
            <a:endParaRPr/>
          </a:p>
        </p:txBody>
      </p:sp>
      <p:sp>
        <p:nvSpPr>
          <p:cNvPr id="316" name="Google Shape;316;p32"/>
          <p:cNvSpPr txBox="1"/>
          <p:nvPr/>
        </p:nvSpPr>
        <p:spPr>
          <a:xfrm>
            <a:off x="752475" y="2795587"/>
            <a:ext cx="108680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Person 2: Hello! Long time no see! 你好 (nǐ hǎo)! 好久不见 (hǎojiǔ bùjiàn)!</a:t>
            </a:r>
            <a:endParaRPr/>
          </a:p>
        </p:txBody>
      </p:sp>
      <p:sp>
        <p:nvSpPr>
          <p:cNvPr id="317" name="Google Shape;317;p32"/>
          <p:cNvSpPr txBox="1"/>
          <p:nvPr/>
        </p:nvSpPr>
        <p:spPr>
          <a:xfrm>
            <a:off x="752475" y="3938587"/>
            <a:ext cx="108680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Person 1: It’s nice to see you again! 很高兴再次见到你 (hěn gāoxìng zàicì jiàn dào nǐ)!</a:t>
            </a:r>
            <a:endParaRPr/>
          </a:p>
        </p:txBody>
      </p:sp>
      <p:pic>
        <p:nvPicPr>
          <p:cNvPr id="318" name="Google Shape;31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2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 txBox="1"/>
          <p:nvPr/>
        </p:nvSpPr>
        <p:spPr>
          <a:xfrm>
            <a:off x="752475" y="2338387"/>
            <a:ext cx="1086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Person 2: How are you doing? 你今天怎么样 (nǐ jīntiān zěnmeyàng)?</a:t>
            </a:r>
            <a:endParaRPr/>
          </a:p>
        </p:txBody>
      </p:sp>
      <p:sp>
        <p:nvSpPr>
          <p:cNvPr id="327" name="Google Shape;327;p33"/>
          <p:cNvSpPr txBox="1"/>
          <p:nvPr/>
        </p:nvSpPr>
        <p:spPr>
          <a:xfrm>
            <a:off x="752475" y="3481387"/>
            <a:ext cx="1086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Person 1: Great. What’s new? 挺好的 (tǐng hǎo de). 你有什么新事 (nǐ yǒu shéme xīnshì)?</a:t>
            </a:r>
            <a:endParaRPr/>
          </a:p>
        </p:txBody>
      </p:sp>
      <p:sp>
        <p:nvSpPr>
          <p:cNvPr id="328" name="Google Shape;328;p33"/>
          <p:cNvSpPr txBox="1"/>
          <p:nvPr/>
        </p:nvSpPr>
        <p:spPr>
          <a:xfrm>
            <a:off x="752475" y="4976812"/>
            <a:ext cx="1086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Person 2: I'm not feeling so well. 我感觉不太好 (wǒ gǎnjué bù tài hǎo).</a:t>
            </a:r>
            <a:endParaRPr/>
          </a:p>
        </p:txBody>
      </p:sp>
      <p:pic>
        <p:nvPicPr>
          <p:cNvPr id="329" name="Google Shape;32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3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4"/>
          <p:cNvSpPr txBox="1"/>
          <p:nvPr/>
        </p:nvSpPr>
        <p:spPr>
          <a:xfrm>
            <a:off x="752475" y="2181031"/>
            <a:ext cx="1086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Person 1: I hope you feel better. 我希望你好点了 (wǒ xīwàng nǐ hǎo diǎnle).</a:t>
            </a:r>
            <a:endParaRPr/>
          </a:p>
        </p:txBody>
      </p:sp>
      <p:sp>
        <p:nvSpPr>
          <p:cNvPr id="338" name="Google Shape;338;p34"/>
          <p:cNvSpPr txBox="1"/>
          <p:nvPr/>
        </p:nvSpPr>
        <p:spPr>
          <a:xfrm>
            <a:off x="752475" y="3324031"/>
            <a:ext cx="1086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Person 2: Thank you! 谢谢 (xièxiè)</a:t>
            </a:r>
            <a:endParaRPr/>
          </a:p>
        </p:txBody>
      </p:sp>
      <p:sp>
        <p:nvSpPr>
          <p:cNvPr id="339" name="Google Shape;339;p34"/>
          <p:cNvSpPr txBox="1"/>
          <p:nvPr/>
        </p:nvSpPr>
        <p:spPr>
          <a:xfrm>
            <a:off x="752475" y="4467031"/>
            <a:ext cx="1086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Person 1: See you tomorrow! 明天见 (míngtiān jiàn)!</a:t>
            </a:r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752475" y="5610031"/>
            <a:ext cx="1086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mic Neue"/>
                <a:ea typeface="Comic Neue"/>
                <a:cs typeface="Comic Neue"/>
                <a:sym typeface="Comic Neue"/>
              </a:rPr>
              <a:t>Person 2: Goodnight! 晚安 (wǎn'ān)!</a:t>
            </a:r>
            <a:endParaRPr/>
          </a:p>
        </p:txBody>
      </p:sp>
      <p:pic>
        <p:nvPicPr>
          <p:cNvPr id="341" name="Google Shape;34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5"/>
          <p:cNvSpPr txBox="1"/>
          <p:nvPr/>
        </p:nvSpPr>
        <p:spPr>
          <a:xfrm>
            <a:off x="295275" y="1204912"/>
            <a:ext cx="11601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WeChat QR Code</a:t>
            </a:r>
            <a:endParaRPr/>
          </a:p>
        </p:txBody>
      </p:sp>
      <p:sp>
        <p:nvSpPr>
          <p:cNvPr id="350" name="Google Shape;350;p35"/>
          <p:cNvSpPr txBox="1"/>
          <p:nvPr/>
        </p:nvSpPr>
        <p:spPr>
          <a:xfrm>
            <a:off x="295275" y="1862137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扫描微信加入英语群</a:t>
            </a:r>
            <a:endParaRPr/>
          </a:p>
        </p:txBody>
      </p:sp>
      <p:sp>
        <p:nvSpPr>
          <p:cNvPr id="351" name="Google Shape;351;p35"/>
          <p:cNvSpPr txBox="1"/>
          <p:nvPr/>
        </p:nvSpPr>
        <p:spPr>
          <a:xfrm>
            <a:off x="571500" y="2338387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sǎomiáo wēixìn jiārù yīngyǔ qún</a:t>
            </a:r>
            <a:endParaRPr/>
          </a:p>
        </p:txBody>
      </p:sp>
      <p:pic>
        <p:nvPicPr>
          <p:cNvPr id="352" name="Google Shape;35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3700" y="2796400"/>
            <a:ext cx="3664575" cy="372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B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612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6"/>
          <p:cNvSpPr txBox="1"/>
          <p:nvPr/>
        </p:nvSpPr>
        <p:spPr>
          <a:xfrm>
            <a:off x="295275" y="1033462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Thank you everyone!</a:t>
            </a:r>
            <a:endParaRPr/>
          </a:p>
        </p:txBody>
      </p:sp>
      <p:sp>
        <p:nvSpPr>
          <p:cNvPr id="362" name="Google Shape;362;p36"/>
          <p:cNvSpPr txBox="1"/>
          <p:nvPr/>
        </p:nvSpPr>
        <p:spPr>
          <a:xfrm>
            <a:off x="295275" y="19097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800000"/>
                </a:solidFill>
                <a:latin typeface="Comic Neue"/>
                <a:ea typeface="Comic Neue"/>
                <a:cs typeface="Comic Neue"/>
                <a:sym typeface="Comic Neue"/>
              </a:rPr>
              <a:t>课程到此结束，记得复习一下材料.</a:t>
            </a:r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571500" y="2414587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Kèchéng dào cǐ jiéshù, jìdé fùxí yīxià cái liào</a:t>
            </a:r>
            <a:endParaRPr/>
          </a:p>
        </p:txBody>
      </p:sp>
      <p:pic>
        <p:nvPicPr>
          <p:cNvPr descr="image.png" id="364" name="Google Shape;36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6625" y="3062287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062287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58375" y="238125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6"/>
          <p:cNvSpPr txBox="1"/>
          <p:nvPr/>
        </p:nvSpPr>
        <p:spPr>
          <a:xfrm>
            <a:off x="9812700" y="1458450"/>
            <a:ext cx="23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mic Neue"/>
                <a:ea typeface="Comic Neue"/>
                <a:cs typeface="Comic Neue"/>
                <a:sym typeface="Comic Neue"/>
              </a:rPr>
              <a:t>本公益项目获得米果教育和Heritage Bridges 协助支持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